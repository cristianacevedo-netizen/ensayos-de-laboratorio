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6"/>
  </p:notesMasterIdLst>
  <p:sldIdLst>
    <p:sldId id="273" r:id="rId5"/>
    <p:sldId id="281" r:id="rId6"/>
    <p:sldId id="283" r:id="rId7"/>
    <p:sldId id="282" r:id="rId8"/>
    <p:sldId id="274" r:id="rId9"/>
    <p:sldId id="275" r:id="rId10"/>
    <p:sldId id="276" r:id="rId11"/>
    <p:sldId id="277" r:id="rId12"/>
    <p:sldId id="278" r:id="rId13"/>
    <p:sldId id="279" r:id="rId14"/>
    <p:sldId id="280" r:id="rId15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133D760-016F-9839-1411-986950DDF519}" v="4" dt="2026-03-12T17:15:38.36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266"/>
    <p:restoredTop sz="94748"/>
  </p:normalViewPr>
  <p:slideViewPr>
    <p:cSldViewPr>
      <p:cViewPr varScale="1">
        <p:scale>
          <a:sx n="114" d="100"/>
          <a:sy n="114" d="100"/>
        </p:scale>
        <p:origin x="2344" y="1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RGE XAVIER CHUMBI SANCHEZ" userId="S::jorge.chumbi@alumnos.upm.es::e6143040-6f04-4932-a2cb-f3a7365f5061" providerId="AD" clId="Web-{9133D760-016F-9839-1411-986950DDF519}"/>
    <pc:docChg chg="modSld">
      <pc:chgData name="JORGE XAVIER CHUMBI SANCHEZ" userId="S::jorge.chumbi@alumnos.upm.es::e6143040-6f04-4932-a2cb-f3a7365f5061" providerId="AD" clId="Web-{9133D760-016F-9839-1411-986950DDF519}" dt="2026-03-12T17:15:38.368" v="3"/>
      <pc:docMkLst>
        <pc:docMk/>
      </pc:docMkLst>
      <pc:sldChg chg="addSp delSp">
        <pc:chgData name="JORGE XAVIER CHUMBI SANCHEZ" userId="S::jorge.chumbi@alumnos.upm.es::e6143040-6f04-4932-a2cb-f3a7365f5061" providerId="AD" clId="Web-{9133D760-016F-9839-1411-986950DDF519}" dt="2026-03-12T17:15:38.368" v="3"/>
        <pc:sldMkLst>
          <pc:docMk/>
          <pc:sldMk cId="2754958634" sldId="274"/>
        </pc:sldMkLst>
        <pc:picChg chg="add del">
          <ac:chgData name="JORGE XAVIER CHUMBI SANCHEZ" userId="S::jorge.chumbi@alumnos.upm.es::e6143040-6f04-4932-a2cb-f3a7365f5061" providerId="AD" clId="Web-{9133D760-016F-9839-1411-986950DDF519}" dt="2026-03-12T17:15:38.368" v="3"/>
          <ac:picMkLst>
            <pc:docMk/>
            <pc:sldMk cId="2754958634" sldId="274"/>
            <ac:picMk id="9" creationId="{7683F41C-DD69-C747-9444-2031E2CD6981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A834E698-A6FD-7747-BF77-6AD0C7D51E3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es-EC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E35E0619-99A3-1548-8E22-4EBD3DC6A5E1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 altLang="es-EC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5A7ED505-DCE8-A641-B6AB-3CECD91C9C25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86973F79-0A43-B849-9277-262E833467F3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s-EC" noProof="0"/>
              <a:t>Haga clic para modificar el estilo de texto del patrón</a:t>
            </a:r>
          </a:p>
          <a:p>
            <a:pPr lvl="1"/>
            <a:r>
              <a:rPr lang="en-US" altLang="es-EC" noProof="0"/>
              <a:t>Segundo nivel</a:t>
            </a:r>
          </a:p>
          <a:p>
            <a:pPr lvl="2"/>
            <a:r>
              <a:rPr lang="en-US" altLang="es-EC" noProof="0"/>
              <a:t>Tercer nivel</a:t>
            </a:r>
          </a:p>
          <a:p>
            <a:pPr lvl="3"/>
            <a:r>
              <a:rPr lang="en-US" altLang="es-EC" noProof="0"/>
              <a:t>Cuarto nivel</a:t>
            </a:r>
          </a:p>
          <a:p>
            <a:pPr lvl="4"/>
            <a:r>
              <a:rPr lang="en-US" altLang="es-EC" noProof="0"/>
              <a:t>Quinto nivel</a:t>
            </a:r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109FD267-5302-F041-8C1F-FBAB4443C9B1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es-EC"/>
          </a:p>
        </p:txBody>
      </p:sp>
      <p:sp>
        <p:nvSpPr>
          <p:cNvPr id="3079" name="Rectangle 7">
            <a:extLst>
              <a:ext uri="{FF2B5EF4-FFF2-40B4-BE49-F238E27FC236}">
                <a16:creationId xmlns:a16="http://schemas.microsoft.com/office/drawing/2014/main" id="{AEEA3751-7808-BC44-AF96-1334E6F5DB7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3099860E-0F26-4743-8891-3EDBFBD1D90C}" type="slidenum">
              <a:rPr lang="en-US" altLang="es-EC"/>
              <a:pPr>
                <a:defRPr/>
              </a:pPr>
              <a:t>‹Nº›</a:t>
            </a:fld>
            <a:endParaRPr lang="en-US" altLang="es-EC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0" descr="logo-principal">
            <a:extLst>
              <a:ext uri="{FF2B5EF4-FFF2-40B4-BE49-F238E27FC236}">
                <a16:creationId xmlns:a16="http://schemas.microsoft.com/office/drawing/2014/main" id="{B1DC4FBA-A37B-D945-A19F-BC34BBEDA99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543" b="41760"/>
          <a:stretch>
            <a:fillRect/>
          </a:stretch>
        </p:blipFill>
        <p:spPr bwMode="auto">
          <a:xfrm>
            <a:off x="4638675" y="1196975"/>
            <a:ext cx="4505325" cy="566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6" descr="logo-principal copia">
            <a:extLst>
              <a:ext uri="{FF2B5EF4-FFF2-40B4-BE49-F238E27FC236}">
                <a16:creationId xmlns:a16="http://schemas.microsoft.com/office/drawing/2014/main" id="{E0A691B3-9003-D64B-AF7F-F64F99C4BA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06563" cy="141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8" descr="Politecnica">
            <a:extLst>
              <a:ext uri="{FF2B5EF4-FFF2-40B4-BE49-F238E27FC236}">
                <a16:creationId xmlns:a16="http://schemas.microsoft.com/office/drawing/2014/main" id="{69FF4B9C-6B82-804F-92D6-F7A78900FE1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57338"/>
            <a:ext cx="563563" cy="5300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9" descr="Barra">
            <a:extLst>
              <a:ext uri="{FF2B5EF4-FFF2-40B4-BE49-F238E27FC236}">
                <a16:creationId xmlns:a16="http://schemas.microsoft.com/office/drawing/2014/main" id="{FA05B4F0-96F2-7043-B696-BFA2DD1021E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713" y="981075"/>
            <a:ext cx="7380287" cy="196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2" name="Rectangle 2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371600" y="3886200"/>
            <a:ext cx="6400800" cy="1752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>
              <a:buFontTx/>
              <a:buNone/>
              <a:defRPr/>
            </a:lvl1pPr>
          </a:lstStyle>
          <a:p>
            <a:pPr lvl="0"/>
            <a:r>
              <a:rPr lang="en-US" altLang="es-EC" noProof="0"/>
              <a:t>Haga clic para modificar el estilo de subtítulo del patrón</a:t>
            </a:r>
          </a:p>
        </p:txBody>
      </p:sp>
      <p:sp>
        <p:nvSpPr>
          <p:cNvPr id="10247" name="Rectangle 7"/>
          <p:cNvSpPr>
            <a:spLocks noGrp="1" noChangeArrowheads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lvl="0"/>
            <a:r>
              <a:rPr lang="en-US" altLang="es-EC" noProof="0"/>
              <a:t>Haga clic para cambiar el estilo de título	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E6E75BA3-B907-EF41-B76C-86FFE77C55C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684213" y="6245225"/>
            <a:ext cx="1906587" cy="47625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US" altLang="es-EC"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57F80F4B-91BE-6446-83C1-FC1AE1340B3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US" altLang="es-EC"/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2173DDB7-F782-3541-87C5-C7ED01D47D4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EE980E67-9353-C446-B01D-6DA60134A609}" type="slidenum">
              <a:rPr lang="en-US" altLang="es-EC"/>
              <a:pPr>
                <a:defRPr/>
              </a:pPr>
              <a:t>‹Nº›</a:t>
            </a:fld>
            <a:endParaRPr lang="en-US" altLang="es-EC"/>
          </a:p>
        </p:txBody>
      </p:sp>
    </p:spTree>
    <p:extLst>
      <p:ext uri="{BB962C8B-B14F-4D97-AF65-F5344CB8AC3E}">
        <p14:creationId xmlns:p14="http://schemas.microsoft.com/office/powerpoint/2010/main" val="22227364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2569454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26263803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689850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022951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5272649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64567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284038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s-EC" noProof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8875888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6852679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5391080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C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2 Subtítulo">
            <a:extLst>
              <a:ext uri="{FF2B5EF4-FFF2-40B4-BE49-F238E27FC236}">
                <a16:creationId xmlns:a16="http://schemas.microsoft.com/office/drawing/2014/main" id="{20EB6FE3-2DD2-104F-B217-620D8A3DA8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77593" y="3175914"/>
            <a:ext cx="5184576" cy="536305"/>
          </a:xfrm>
        </p:spPr>
        <p:txBody>
          <a:bodyPr/>
          <a:lstStyle/>
          <a:p>
            <a:r>
              <a:rPr lang="es-ES" b="1" dirty="0"/>
              <a:t>TEMA 3: </a:t>
            </a:r>
          </a:p>
          <a:p>
            <a:r>
              <a:rPr lang="es-ES" b="1" dirty="0"/>
              <a:t>DETERMINACION DE PERIODOS DE VIBRACION Y EVOLUCION</a:t>
            </a:r>
          </a:p>
        </p:txBody>
      </p:sp>
      <p:sp>
        <p:nvSpPr>
          <p:cNvPr id="3" name="2 Subtítulo">
            <a:extLst>
              <a:ext uri="{FF2B5EF4-FFF2-40B4-BE49-F238E27FC236}">
                <a16:creationId xmlns:a16="http://schemas.microsoft.com/office/drawing/2014/main" id="{D305A5A8-8A64-4948-8CF6-925582CE353C}"/>
              </a:ext>
            </a:extLst>
          </p:cNvPr>
          <p:cNvSpPr txBox="1">
            <a:spLocks/>
          </p:cNvSpPr>
          <p:nvPr/>
        </p:nvSpPr>
        <p:spPr bwMode="auto">
          <a:xfrm>
            <a:off x="801429" y="2085541"/>
            <a:ext cx="8136904" cy="13283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b="1" dirty="0"/>
              <a:t>ENSAYOS DINÁMICOS DE LABORATORIO</a:t>
            </a:r>
            <a:endParaRPr lang="es-ES" altLang="en-US" sz="1600" b="1" dirty="0"/>
          </a:p>
          <a:p>
            <a:pPr eaLnBrk="1" hangingPunct="1">
              <a:lnSpc>
                <a:spcPct val="80000"/>
              </a:lnSpc>
            </a:pPr>
            <a:endParaRPr lang="es-ES" altLang="en-US" sz="16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151402-B988-BCFE-EFA7-96F1BB015C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Subtítulo">
            <a:extLst>
              <a:ext uri="{FF2B5EF4-FFF2-40B4-BE49-F238E27FC236}">
                <a16:creationId xmlns:a16="http://schemas.microsoft.com/office/drawing/2014/main" id="{A586085D-BC27-D471-4E52-024B5FC531D8}"/>
              </a:ext>
            </a:extLst>
          </p:cNvPr>
          <p:cNvSpPr txBox="1">
            <a:spLocks/>
          </p:cNvSpPr>
          <p:nvPr/>
        </p:nvSpPr>
        <p:spPr bwMode="auto">
          <a:xfrm>
            <a:off x="1007096" y="260648"/>
            <a:ext cx="8136904" cy="13283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b="1" dirty="0"/>
              <a:t>ENSAYOS DINÁMICOS DE LABORATORIO</a:t>
            </a:r>
            <a:endParaRPr lang="es-ES" altLang="en-US" sz="1600" b="1" dirty="0"/>
          </a:p>
          <a:p>
            <a:pPr eaLnBrk="1" hangingPunct="1">
              <a:lnSpc>
                <a:spcPct val="80000"/>
              </a:lnSpc>
            </a:pPr>
            <a:endParaRPr lang="es-ES" altLang="en-US" sz="1600" b="1" dirty="0"/>
          </a:p>
        </p:txBody>
      </p:sp>
      <p:sp>
        <p:nvSpPr>
          <p:cNvPr id="2" name="Subtítulo 1">
            <a:extLst>
              <a:ext uri="{FF2B5EF4-FFF2-40B4-BE49-F238E27FC236}">
                <a16:creationId xmlns:a16="http://schemas.microsoft.com/office/drawing/2014/main" id="{D6B4AC9F-43CC-508C-BE22-9B3DA4DD3D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1560" y="1701676"/>
            <a:ext cx="7920880" cy="1752600"/>
          </a:xfrm>
        </p:spPr>
        <p:txBody>
          <a:bodyPr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200" dirty="0"/>
              <a:t>El </a:t>
            </a:r>
            <a:r>
              <a:rPr lang="en-GB" sz="2200" b="1" dirty="0" err="1"/>
              <a:t>objetivo</a:t>
            </a:r>
            <a:r>
              <a:rPr lang="en-GB" sz="2200" b="1" dirty="0"/>
              <a:t> de </a:t>
            </a:r>
            <a:r>
              <a:rPr lang="en-GB" sz="2200" b="1" dirty="0" err="1"/>
              <a:t>este</a:t>
            </a:r>
            <a:r>
              <a:rPr lang="en-GB" sz="2200" b="1" dirty="0"/>
              <a:t> </a:t>
            </a:r>
            <a:r>
              <a:rPr lang="en-GB" sz="2200" b="1" dirty="0" err="1"/>
              <a:t>tema</a:t>
            </a:r>
            <a:r>
              <a:rPr lang="en-GB" sz="2200" b="1" dirty="0"/>
              <a:t> </a:t>
            </a:r>
            <a:r>
              <a:rPr lang="en-GB" sz="2200" dirty="0"/>
              <a:t>es </a:t>
            </a:r>
            <a:r>
              <a:rPr lang="en-GB" sz="2200" dirty="0" err="1"/>
              <a:t>aprender</a:t>
            </a:r>
            <a:r>
              <a:rPr lang="en-GB" sz="2200" dirty="0"/>
              <a:t> a </a:t>
            </a:r>
            <a:r>
              <a:rPr lang="en-GB" sz="2200" dirty="0" err="1"/>
              <a:t>analizar</a:t>
            </a:r>
            <a:r>
              <a:rPr lang="en-GB" sz="2200" dirty="0"/>
              <a:t> </a:t>
            </a:r>
            <a:r>
              <a:rPr lang="en-GB" sz="2200" dirty="0" err="1"/>
              <a:t>señales</a:t>
            </a:r>
            <a:r>
              <a:rPr lang="en-GB" sz="2200" dirty="0"/>
              <a:t> </a:t>
            </a:r>
            <a:r>
              <a:rPr lang="en-GB" sz="2200" dirty="0" err="1"/>
              <a:t>medidas</a:t>
            </a:r>
            <a:r>
              <a:rPr lang="en-GB" sz="2200" dirty="0"/>
              <a:t> </a:t>
            </a:r>
            <a:r>
              <a:rPr lang="en-GB" sz="2200" dirty="0" err="1"/>
              <a:t>durante</a:t>
            </a:r>
            <a:r>
              <a:rPr lang="en-GB" sz="2200" dirty="0"/>
              <a:t> un </a:t>
            </a:r>
            <a:r>
              <a:rPr lang="en-GB" sz="2200" dirty="0" err="1"/>
              <a:t>ensayo</a:t>
            </a:r>
            <a:r>
              <a:rPr lang="en-GB" sz="2200" dirty="0"/>
              <a:t> </a:t>
            </a:r>
            <a:r>
              <a:rPr lang="en-GB" sz="2200" dirty="0" err="1"/>
              <a:t>dinámico</a:t>
            </a:r>
            <a:r>
              <a:rPr lang="en-GB" sz="2200" dirty="0"/>
              <a:t> con </a:t>
            </a:r>
            <a:r>
              <a:rPr lang="en-GB" sz="2200" dirty="0" err="1"/>
              <a:t>cargas</a:t>
            </a:r>
            <a:r>
              <a:rPr lang="en-GB" sz="2200" dirty="0"/>
              <a:t> </a:t>
            </a:r>
            <a:r>
              <a:rPr lang="en-GB" sz="2200" dirty="0" err="1"/>
              <a:t>sísmicas</a:t>
            </a:r>
            <a:r>
              <a:rPr lang="en-GB" sz="2200" dirty="0"/>
              <a:t>, para </a:t>
            </a:r>
            <a:r>
              <a:rPr lang="en-GB" sz="2200" dirty="0" err="1"/>
              <a:t>averiguar</a:t>
            </a:r>
            <a:r>
              <a:rPr lang="en-GB" sz="2200" dirty="0"/>
              <a:t> </a:t>
            </a:r>
            <a:r>
              <a:rPr lang="en-GB" sz="2200" dirty="0" err="1"/>
              <a:t>cómo</a:t>
            </a:r>
            <a:r>
              <a:rPr lang="en-GB" sz="2200" dirty="0"/>
              <a:t> </a:t>
            </a:r>
            <a:r>
              <a:rPr lang="en-GB" sz="2200" dirty="0" err="1"/>
              <a:t>evoluciona</a:t>
            </a:r>
            <a:r>
              <a:rPr lang="en-GB" sz="2200" dirty="0"/>
              <a:t> </a:t>
            </a:r>
            <a:r>
              <a:rPr lang="en-GB" sz="2200" dirty="0" err="1"/>
              <a:t>el</a:t>
            </a:r>
            <a:r>
              <a:rPr lang="en-GB" sz="2200" dirty="0"/>
              <a:t> </a:t>
            </a:r>
            <a:r>
              <a:rPr lang="en-GB" sz="2200" dirty="0" err="1"/>
              <a:t>daño</a:t>
            </a:r>
            <a:r>
              <a:rPr lang="en-GB" sz="2200" dirty="0"/>
              <a:t> a </a:t>
            </a:r>
            <a:r>
              <a:rPr lang="en-GB" sz="2200" dirty="0" err="1"/>
              <a:t>través</a:t>
            </a:r>
            <a:r>
              <a:rPr lang="en-GB" sz="2200" dirty="0"/>
              <a:t> de las </a:t>
            </a:r>
            <a:r>
              <a:rPr lang="en-GB" sz="2200" dirty="0" err="1"/>
              <a:t>variaciones</a:t>
            </a:r>
            <a:r>
              <a:rPr lang="en-GB" sz="2200" dirty="0"/>
              <a:t> de sus </a:t>
            </a:r>
            <a:r>
              <a:rPr lang="en-GB" sz="2200" dirty="0" err="1"/>
              <a:t>propiedades</a:t>
            </a:r>
            <a:r>
              <a:rPr lang="en-GB" sz="2200" dirty="0"/>
              <a:t> </a:t>
            </a:r>
            <a:r>
              <a:rPr lang="en-GB" sz="2200" dirty="0" err="1"/>
              <a:t>dinámicas</a:t>
            </a:r>
            <a:r>
              <a:rPr lang="en-GB" sz="2200" dirty="0"/>
              <a:t>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200" dirty="0" err="1"/>
              <a:t>Aunque</a:t>
            </a:r>
            <a:r>
              <a:rPr lang="en-GB" sz="2200" dirty="0"/>
              <a:t> lo </a:t>
            </a:r>
            <a:r>
              <a:rPr lang="en-GB" sz="2200" dirty="0" err="1"/>
              <a:t>vamos</a:t>
            </a:r>
            <a:r>
              <a:rPr lang="en-GB" sz="2200" dirty="0"/>
              <a:t> a </a:t>
            </a:r>
            <a:r>
              <a:rPr lang="en-GB" sz="2200" dirty="0" err="1"/>
              <a:t>ver</a:t>
            </a:r>
            <a:r>
              <a:rPr lang="en-GB" sz="2200" dirty="0"/>
              <a:t> para </a:t>
            </a:r>
            <a:r>
              <a:rPr lang="en-GB" sz="2200" dirty="0" err="1"/>
              <a:t>ensayos</a:t>
            </a:r>
            <a:r>
              <a:rPr lang="en-GB" sz="2200" dirty="0"/>
              <a:t> </a:t>
            </a:r>
            <a:r>
              <a:rPr lang="en-GB" sz="2200" dirty="0" err="1"/>
              <a:t>sísmicos</a:t>
            </a:r>
            <a:r>
              <a:rPr lang="en-GB" sz="2200" dirty="0"/>
              <a:t> y </a:t>
            </a:r>
            <a:r>
              <a:rPr lang="en-GB" sz="2200" dirty="0" err="1"/>
              <a:t>en</a:t>
            </a:r>
            <a:r>
              <a:rPr lang="en-GB" sz="2200" dirty="0"/>
              <a:t>  </a:t>
            </a:r>
            <a:r>
              <a:rPr lang="en-GB" sz="2200" dirty="0" err="1"/>
              <a:t>estructuras</a:t>
            </a:r>
            <a:r>
              <a:rPr lang="en-GB" sz="2200" dirty="0"/>
              <a:t> </a:t>
            </a:r>
            <a:r>
              <a:rPr lang="en-GB" sz="2200" dirty="0" err="1"/>
              <a:t>que</a:t>
            </a:r>
            <a:r>
              <a:rPr lang="en-GB" sz="2200" dirty="0"/>
              <a:t> se van a </a:t>
            </a:r>
            <a:r>
              <a:rPr lang="en-GB" sz="2200" dirty="0" err="1"/>
              <a:t>dañar</a:t>
            </a:r>
            <a:r>
              <a:rPr lang="en-GB" sz="2200" dirty="0"/>
              <a:t> </a:t>
            </a:r>
            <a:r>
              <a:rPr lang="en-GB" sz="2200" dirty="0" err="1"/>
              <a:t>durante</a:t>
            </a:r>
            <a:r>
              <a:rPr lang="en-GB" sz="2200" dirty="0"/>
              <a:t> la </a:t>
            </a:r>
            <a:r>
              <a:rPr lang="en-GB" sz="2200" dirty="0" err="1"/>
              <a:t>acción</a:t>
            </a:r>
            <a:r>
              <a:rPr lang="en-GB" sz="2200" dirty="0"/>
              <a:t> </a:t>
            </a:r>
            <a:r>
              <a:rPr lang="en-GB" sz="2200" dirty="0" err="1"/>
              <a:t>sísmica</a:t>
            </a:r>
            <a:r>
              <a:rPr lang="en-GB" sz="2200" dirty="0"/>
              <a:t>, se </a:t>
            </a:r>
            <a:r>
              <a:rPr lang="en-GB" sz="2200" dirty="0" err="1"/>
              <a:t>puede</a:t>
            </a:r>
            <a:r>
              <a:rPr lang="en-GB" sz="2200" dirty="0"/>
              <a:t> </a:t>
            </a:r>
            <a:r>
              <a:rPr lang="en-GB" sz="2200" dirty="0" err="1"/>
              <a:t>aplicar</a:t>
            </a:r>
            <a:r>
              <a:rPr lang="en-GB" sz="2200" dirty="0"/>
              <a:t> a </a:t>
            </a:r>
            <a:r>
              <a:rPr lang="en-GB" sz="2200" dirty="0" err="1"/>
              <a:t>otros</a:t>
            </a:r>
            <a:r>
              <a:rPr lang="en-GB" sz="2200" dirty="0"/>
              <a:t> campos </a:t>
            </a:r>
            <a:r>
              <a:rPr lang="en-GB" sz="2200" dirty="0" err="1"/>
              <a:t>como</a:t>
            </a:r>
            <a:r>
              <a:rPr lang="en-GB" sz="2200" dirty="0"/>
              <a:t> las </a:t>
            </a:r>
            <a:r>
              <a:rPr lang="en-GB" sz="2200" dirty="0" err="1"/>
              <a:t>vibraciones</a:t>
            </a:r>
            <a:r>
              <a:rPr lang="en-GB" sz="2200" dirty="0"/>
              <a:t> </a:t>
            </a:r>
            <a:r>
              <a:rPr lang="en-GB" sz="2200" dirty="0" err="1"/>
              <a:t>producidas</a:t>
            </a:r>
            <a:r>
              <a:rPr lang="en-GB" sz="2200" dirty="0"/>
              <a:t> </a:t>
            </a:r>
            <a:r>
              <a:rPr lang="en-GB" sz="2200" dirty="0" err="1"/>
              <a:t>por</a:t>
            </a:r>
            <a:r>
              <a:rPr lang="en-GB" sz="2200" dirty="0"/>
              <a:t> </a:t>
            </a:r>
            <a:r>
              <a:rPr lang="en-GB" sz="2200" dirty="0" err="1"/>
              <a:t>oleaje</a:t>
            </a:r>
            <a:r>
              <a:rPr lang="en-GB" sz="2200" dirty="0"/>
              <a:t> </a:t>
            </a:r>
            <a:r>
              <a:rPr lang="en-GB" sz="2200" dirty="0" err="1"/>
              <a:t>en</a:t>
            </a:r>
            <a:r>
              <a:rPr lang="en-GB" sz="2200" dirty="0"/>
              <a:t> </a:t>
            </a:r>
            <a:r>
              <a:rPr lang="es-ES" sz="2200" dirty="0"/>
              <a:t>plataformas flotantes cilíndricas verticales (“</a:t>
            </a:r>
            <a:r>
              <a:rPr lang="es-ES" sz="2200" dirty="0" err="1"/>
              <a:t>spar</a:t>
            </a:r>
            <a:r>
              <a:rPr lang="es-ES" sz="2200" dirty="0"/>
              <a:t>”) utilizadas en alta mar (petróleo/gas o eólica), que se mantienen en régimen básicamente elástico. </a:t>
            </a:r>
            <a:endParaRPr lang="en-GB" sz="2200" dirty="0"/>
          </a:p>
        </p:txBody>
      </p:sp>
    </p:spTree>
    <p:extLst>
      <p:ext uri="{BB962C8B-B14F-4D97-AF65-F5344CB8AC3E}">
        <p14:creationId xmlns:p14="http://schemas.microsoft.com/office/powerpoint/2010/main" val="29162075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48726C-6EBB-68BC-3245-FCCBE88E04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Subtítulo">
            <a:extLst>
              <a:ext uri="{FF2B5EF4-FFF2-40B4-BE49-F238E27FC236}">
                <a16:creationId xmlns:a16="http://schemas.microsoft.com/office/drawing/2014/main" id="{660FD348-4231-912D-0581-E96C57EE773E}"/>
              </a:ext>
            </a:extLst>
          </p:cNvPr>
          <p:cNvSpPr txBox="1">
            <a:spLocks/>
          </p:cNvSpPr>
          <p:nvPr/>
        </p:nvSpPr>
        <p:spPr bwMode="auto">
          <a:xfrm>
            <a:off x="1007096" y="260648"/>
            <a:ext cx="8136904" cy="13283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b="1" dirty="0"/>
              <a:t>ENSAYOS DINÁMICOS DE LABORATORIO</a:t>
            </a:r>
            <a:endParaRPr lang="es-ES" altLang="en-US" sz="1600" b="1" dirty="0"/>
          </a:p>
          <a:p>
            <a:pPr eaLnBrk="1" hangingPunct="1">
              <a:lnSpc>
                <a:spcPct val="80000"/>
              </a:lnSpc>
            </a:pPr>
            <a:endParaRPr lang="es-ES" altLang="en-US" sz="1600" b="1" dirty="0"/>
          </a:p>
        </p:txBody>
      </p:sp>
      <p:sp>
        <p:nvSpPr>
          <p:cNvPr id="2" name="Subtítulo 1">
            <a:extLst>
              <a:ext uri="{FF2B5EF4-FFF2-40B4-BE49-F238E27FC236}">
                <a16:creationId xmlns:a16="http://schemas.microsoft.com/office/drawing/2014/main" id="{C8455B60-E334-D1CB-04FF-E2170310AF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5576" y="1676400"/>
            <a:ext cx="7920880" cy="1752600"/>
          </a:xfrm>
        </p:spPr>
        <p:txBody>
          <a:bodyPr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1800" dirty="0"/>
              <a:t>La idea original a utilizar en relación con terremotos es aplicar la transformada de Fourier a distintos intervalos de tiempo de corta duración (</a:t>
            </a:r>
            <a:r>
              <a:rPr lang="es-ES" sz="1800" i="1" dirty="0"/>
              <a:t>short FFT</a:t>
            </a:r>
            <a:r>
              <a:rPr lang="es-ES" sz="1800" dirty="0"/>
              <a:t>). Esto permite ver como cambian las propiedades dinámicas de la estructura a medida que se daña.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1800" dirty="0"/>
              <a:t>El resultado se suele mostrar en 3 dimensiones: los dos ejes horizontales representan tiempo y la frecuencia y el vertical la amplitud.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1800" dirty="0"/>
              <a:t>Si se corta por planos verticales para un tiempo dado se ve cual es el contenido de frecuencias en ese tiempo y se puede comparar lo que ocurre a distintos tiempos. Con esto se pueden identificar los periodos propios de la estructura y su variación con el tiempo a medida que se hace inelástica.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1800" dirty="0"/>
              <a:t>Si se corta por un plano vertical para una frecuencia dada se ve como varia la amplitud de esa frecuencia con el tiempo.</a:t>
            </a:r>
          </a:p>
        </p:txBody>
      </p:sp>
    </p:spTree>
    <p:extLst>
      <p:ext uri="{BB962C8B-B14F-4D97-AF65-F5344CB8AC3E}">
        <p14:creationId xmlns:p14="http://schemas.microsoft.com/office/powerpoint/2010/main" val="19411999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CAD3CB-2D58-93E9-280A-E7855E8D7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Subtítulo">
            <a:extLst>
              <a:ext uri="{FF2B5EF4-FFF2-40B4-BE49-F238E27FC236}">
                <a16:creationId xmlns:a16="http://schemas.microsoft.com/office/drawing/2014/main" id="{7537938C-DBA6-B476-131C-C7B5B6FB8ECA}"/>
              </a:ext>
            </a:extLst>
          </p:cNvPr>
          <p:cNvSpPr txBox="1">
            <a:spLocks/>
          </p:cNvSpPr>
          <p:nvPr/>
        </p:nvSpPr>
        <p:spPr bwMode="auto">
          <a:xfrm>
            <a:off x="1007096" y="260648"/>
            <a:ext cx="8136904" cy="13283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b="1" dirty="0"/>
              <a:t>ENSAYOS DINÁMICOS DE LABORATORIO</a:t>
            </a:r>
            <a:endParaRPr lang="es-ES" altLang="en-US" sz="1600" b="1" dirty="0"/>
          </a:p>
          <a:p>
            <a:pPr eaLnBrk="1" hangingPunct="1">
              <a:lnSpc>
                <a:spcPct val="80000"/>
              </a:lnSpc>
            </a:pPr>
            <a:endParaRPr lang="es-ES" altLang="en-US" sz="1600" b="1" dirty="0"/>
          </a:p>
        </p:txBody>
      </p:sp>
      <p:sp>
        <p:nvSpPr>
          <p:cNvPr id="2" name="Subtítulo 1">
            <a:extLst>
              <a:ext uri="{FF2B5EF4-FFF2-40B4-BE49-F238E27FC236}">
                <a16:creationId xmlns:a16="http://schemas.microsoft.com/office/drawing/2014/main" id="{C9AD595C-0587-E49E-E506-994CC0ADF4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3568" y="2132856"/>
            <a:ext cx="7920880" cy="1752600"/>
          </a:xfrm>
        </p:spPr>
        <p:txBody>
          <a:bodyPr/>
          <a:lstStyle/>
          <a:p>
            <a:r>
              <a:rPr lang="en-GB" sz="2200" dirty="0"/>
              <a:t>EXPLICACION DE LA CONVENIENCIA DE UTILIZAR FUNCIONES DE TRANSFERENCIA</a:t>
            </a:r>
          </a:p>
          <a:p>
            <a:endParaRPr lang="en-GB" sz="2200" dirty="0"/>
          </a:p>
          <a:p>
            <a:r>
              <a:rPr lang="en-GB" sz="2200" dirty="0"/>
              <a:t>Se </a:t>
            </a:r>
            <a:r>
              <a:rPr lang="en-GB" sz="2200" dirty="0" err="1"/>
              <a:t>explica</a:t>
            </a:r>
            <a:r>
              <a:rPr lang="en-GB" sz="2200" dirty="0"/>
              <a:t> </a:t>
            </a:r>
            <a:r>
              <a:rPr lang="en-GB" sz="2200" dirty="0" err="1"/>
              <a:t>en</a:t>
            </a:r>
            <a:r>
              <a:rPr lang="en-GB" sz="2200" dirty="0"/>
              <a:t> </a:t>
            </a:r>
            <a:r>
              <a:rPr lang="en-GB" sz="2200" dirty="0" err="1"/>
              <a:t>relación</a:t>
            </a:r>
            <a:r>
              <a:rPr lang="en-GB" sz="2200" dirty="0"/>
              <a:t> con </a:t>
            </a:r>
            <a:r>
              <a:rPr lang="en-GB" sz="2200" dirty="0" err="1"/>
              <a:t>una</a:t>
            </a:r>
            <a:r>
              <a:rPr lang="en-GB" sz="2200" dirty="0"/>
              <a:t> </a:t>
            </a:r>
            <a:r>
              <a:rPr lang="en-GB" sz="2200" dirty="0" err="1"/>
              <a:t>plataforma</a:t>
            </a:r>
            <a:r>
              <a:rPr lang="en-GB" sz="2200" dirty="0"/>
              <a:t> </a:t>
            </a:r>
            <a:r>
              <a:rPr lang="en-GB" sz="2200" dirty="0" err="1"/>
              <a:t>flotante</a:t>
            </a:r>
            <a:r>
              <a:rPr lang="en-GB" sz="2200" dirty="0"/>
              <a:t> </a:t>
            </a:r>
            <a:r>
              <a:rPr lang="en-GB" sz="2200" dirty="0" err="1"/>
              <a:t>sometida</a:t>
            </a:r>
            <a:r>
              <a:rPr lang="en-GB" sz="2200" dirty="0"/>
              <a:t> a </a:t>
            </a:r>
            <a:r>
              <a:rPr lang="en-GB" sz="2200" dirty="0" err="1"/>
              <a:t>oleaje</a:t>
            </a:r>
            <a:r>
              <a:rPr lang="en-GB" sz="2200" dirty="0"/>
              <a:t> del </a:t>
            </a:r>
            <a:r>
              <a:rPr lang="en-GB" sz="2200" dirty="0" err="1"/>
              <a:t>artículo</a:t>
            </a:r>
            <a:r>
              <a:rPr lang="en-GB" sz="2200" dirty="0"/>
              <a:t> de </a:t>
            </a:r>
            <a:r>
              <a:rPr lang="es-ES" sz="2200" dirty="0" err="1"/>
              <a:t>Altenberg</a:t>
            </a:r>
            <a:r>
              <a:rPr lang="es-GB" sz="2200" dirty="0"/>
              <a:t>  et al. </a:t>
            </a:r>
            <a:endParaRPr lang="en-GB" sz="2200" dirty="0"/>
          </a:p>
          <a:p>
            <a:endParaRPr lang="en-GB" sz="1800" dirty="0"/>
          </a:p>
          <a:p>
            <a:endParaRPr lang="en-GB" sz="2200" dirty="0"/>
          </a:p>
          <a:p>
            <a:pPr algn="just"/>
            <a:endParaRPr lang="en-GB" sz="2200" dirty="0"/>
          </a:p>
          <a:p>
            <a:pPr algn="just"/>
            <a:endParaRPr lang="en-GB" sz="2200" dirty="0"/>
          </a:p>
        </p:txBody>
      </p:sp>
    </p:spTree>
    <p:extLst>
      <p:ext uri="{BB962C8B-B14F-4D97-AF65-F5344CB8AC3E}">
        <p14:creationId xmlns:p14="http://schemas.microsoft.com/office/powerpoint/2010/main" val="17214837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7683F41C-DD69-C747-9444-2031E2CD69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1556792"/>
            <a:ext cx="7825580" cy="519434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6D49CC2-A1FE-AA4E-88D3-D94F8C4366C5}"/>
              </a:ext>
            </a:extLst>
          </p:cNvPr>
          <p:cNvSpPr txBox="1"/>
          <p:nvPr/>
        </p:nvSpPr>
        <p:spPr>
          <a:xfrm>
            <a:off x="1536018" y="106862"/>
            <a:ext cx="6552728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500" b="1">
                <a:solidFill>
                  <a:srgbClr val="000000"/>
                </a:solidFill>
                <a:effectLst/>
                <a:latin typeface="-webkit-standard"/>
                <a:ea typeface="Times New Roman" panose="02020603050405020304" pitchFamily="18" charset="0"/>
                <a:cs typeface="Times New Roman" panose="02020603050405020304" pitchFamily="18" charset="0"/>
              </a:rPr>
              <a:t>DETERMINATION OF NATURAL FREQUENCIES FROM TRANSFER FUNCTIONS</a:t>
            </a:r>
            <a:r>
              <a:rPr lang="en-ES" sz="2500" b="1">
                <a:effectLst/>
              </a:rPr>
              <a:t> </a:t>
            </a:r>
            <a:endParaRPr lang="en-ES" sz="2500" b="1"/>
          </a:p>
        </p:txBody>
      </p:sp>
    </p:spTree>
    <p:extLst>
      <p:ext uri="{BB962C8B-B14F-4D97-AF65-F5344CB8AC3E}">
        <p14:creationId xmlns:p14="http://schemas.microsoft.com/office/powerpoint/2010/main" val="27549586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E6D49CC2-A1FE-AA4E-88D3-D94F8C4366C5}"/>
              </a:ext>
            </a:extLst>
          </p:cNvPr>
          <p:cNvSpPr txBox="1"/>
          <p:nvPr/>
        </p:nvSpPr>
        <p:spPr>
          <a:xfrm>
            <a:off x="1475656" y="332656"/>
            <a:ext cx="6552728" cy="723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ES" sz="2500" b="1" kern="1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Practical Procedure </a:t>
            </a:r>
            <a:endParaRPr lang="en-ES" sz="25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/>
            <a:endParaRPr lang="en-ES" b="1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9F6C9AF-C9F6-D242-8FCE-1BDA430564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9752" y="1916832"/>
            <a:ext cx="5308600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20542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E6D49CC2-A1FE-AA4E-88D3-D94F8C4366C5}"/>
              </a:ext>
            </a:extLst>
          </p:cNvPr>
          <p:cNvSpPr txBox="1"/>
          <p:nvPr/>
        </p:nvSpPr>
        <p:spPr>
          <a:xfrm>
            <a:off x="1475656" y="260648"/>
            <a:ext cx="655272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ES" b="1"/>
              <a:t>HOW TO SELECT THE APPROPRIATE "WAVEFORM RESOLUTION" AND FFT RESOLUTION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8AE77C-607B-014D-A3CF-77302A0A79E9}"/>
              </a:ext>
            </a:extLst>
          </p:cNvPr>
          <p:cNvSpPr txBox="1"/>
          <p:nvPr/>
        </p:nvSpPr>
        <p:spPr>
          <a:xfrm>
            <a:off x="1475656" y="3284984"/>
            <a:ext cx="65527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ES" b="1"/>
              <a:t>Explained in the blackboard</a:t>
            </a:r>
          </a:p>
        </p:txBody>
      </p:sp>
    </p:spTree>
    <p:extLst>
      <p:ext uri="{BB962C8B-B14F-4D97-AF65-F5344CB8AC3E}">
        <p14:creationId xmlns:p14="http://schemas.microsoft.com/office/powerpoint/2010/main" val="36314418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E6D49CC2-A1FE-AA4E-88D3-D94F8C4366C5}"/>
              </a:ext>
            </a:extLst>
          </p:cNvPr>
          <p:cNvSpPr txBox="1"/>
          <p:nvPr/>
        </p:nvSpPr>
        <p:spPr>
          <a:xfrm>
            <a:off x="1547664" y="332656"/>
            <a:ext cx="65527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ES" b="1"/>
              <a:t>EXAMPLE OF APPLICATION TO SPECIMEN BS1 CALITRI-100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A28EF9-3B72-514E-8AC7-C363FD241350}"/>
              </a:ext>
            </a:extLst>
          </p:cNvPr>
          <p:cNvSpPr txBox="1"/>
          <p:nvPr/>
        </p:nvSpPr>
        <p:spPr>
          <a:xfrm>
            <a:off x="1907704" y="1412776"/>
            <a:ext cx="626469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ES"/>
              <a:t>the channels axMTS and Piez6 are used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ES"/>
              <a:t>The scaning frequency during the tests is f</a:t>
            </a:r>
            <a:r>
              <a:rPr lang="en-ES" baseline="-25000"/>
              <a:t>scan</a:t>
            </a:r>
            <a:r>
              <a:rPr lang="en-ES"/>
              <a:t>=600 Hz.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B90FB38-3359-DE4B-ADBF-6149A46D3B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664" y="2297278"/>
            <a:ext cx="5803696" cy="4560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0644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E6D49CC2-A1FE-AA4E-88D3-D94F8C4366C5}"/>
              </a:ext>
            </a:extLst>
          </p:cNvPr>
          <p:cNvSpPr txBox="1"/>
          <p:nvPr/>
        </p:nvSpPr>
        <p:spPr>
          <a:xfrm>
            <a:off x="1547664" y="332656"/>
            <a:ext cx="65527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ES" b="1"/>
              <a:t>EXAMPLE OF APPLICATION TO SPECIMEN BS1 CALITRI-100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DA84FF8-3ADB-774D-BF68-E5590EA0F7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664" y="1556792"/>
            <a:ext cx="6573148" cy="5085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47617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E6D49CC2-A1FE-AA4E-88D3-D94F8C4366C5}"/>
              </a:ext>
            </a:extLst>
          </p:cNvPr>
          <p:cNvSpPr txBox="1"/>
          <p:nvPr/>
        </p:nvSpPr>
        <p:spPr>
          <a:xfrm>
            <a:off x="1547664" y="332656"/>
            <a:ext cx="65527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ES" b="1"/>
              <a:t>EXAMPLE OF APPLICATION TO SPECIMEN BS1 CALITRI-100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11CCC96-DB15-824D-9930-30456933FD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179" y="1700808"/>
            <a:ext cx="7027213" cy="4946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41589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E6D49CC2-A1FE-AA4E-88D3-D94F8C4366C5}"/>
              </a:ext>
            </a:extLst>
          </p:cNvPr>
          <p:cNvSpPr txBox="1"/>
          <p:nvPr/>
        </p:nvSpPr>
        <p:spPr>
          <a:xfrm>
            <a:off x="1547664" y="332656"/>
            <a:ext cx="65527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ES" b="1"/>
              <a:t>EXAMPLE OF APPLICATION TO SPECIMEN BS1 CALITRI-100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E005129-A40A-5B4A-AD4F-1A35C87223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624" y="1556792"/>
            <a:ext cx="7093767" cy="5063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255515"/>
      </p:ext>
    </p:extLst>
  </p:cSld>
  <p:clrMapOvr>
    <a:masterClrMapping/>
  </p:clrMapOvr>
</p:sld>
</file>

<file path=ppt/theme/theme1.xml><?xml version="1.0" encoding="utf-8"?>
<a:theme xmlns:a="http://schemas.openxmlformats.org/drawingml/2006/main" name="Diseño predeterminado">
  <a:themeElements>
    <a:clrScheme name="Diseño predeterminad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iseño predeterminad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Diseño predeterminad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a4359fa-112d-474e-a486-5b47d80a81e8" xsi:nil="true"/>
    <lcf76f155ced4ddcb4097134ff3c332f xmlns="a257368d-65d3-43f8-8bc1-38945c4f6164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2BDF103A78BBC40ABF82F172D242B98" ma:contentTypeVersion="19" ma:contentTypeDescription="Crear nuevo documento." ma:contentTypeScope="" ma:versionID="12de889e896dc7bf84f6d3bc5371d3ff">
  <xsd:schema xmlns:xsd="http://www.w3.org/2001/XMLSchema" xmlns:xs="http://www.w3.org/2001/XMLSchema" xmlns:p="http://schemas.microsoft.com/office/2006/metadata/properties" xmlns:ns2="a257368d-65d3-43f8-8bc1-38945c4f6164" xmlns:ns3="4a4359fa-112d-474e-a486-5b47d80a81e8" targetNamespace="http://schemas.microsoft.com/office/2006/metadata/properties" ma:root="true" ma:fieldsID="46233c3631e4edf6beff3fa8bd225796" ns2:_="" ns3:_="">
    <xsd:import namespace="a257368d-65d3-43f8-8bc1-38945c4f6164"/>
    <xsd:import namespace="4a4359fa-112d-474e-a486-5b47d80a81e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257368d-65d3-43f8-8bc1-38945c4f616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19" nillable="true" ma:taxonomy="true" ma:internalName="lcf76f155ced4ddcb4097134ff3c332f" ma:taxonomyFieldName="MediaServiceImageTags" ma:displayName="Etiquetas de imagen" ma:readOnly="false" ma:fieldId="{5cf76f15-5ced-4ddc-b409-7134ff3c332f}" ma:taxonomyMulti="true" ma:sspId="6b79bab5-423c-41bb-b2a6-fa644551eac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5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a4359fa-112d-474e-a486-5b47d80a81e8" elementFormDefault="qualified">
    <xsd:import namespace="http://schemas.microsoft.com/office/2006/documentManagement/types"/>
    <xsd:import namespace="http://schemas.microsoft.com/office/infopath/2007/PartnerControls"/>
    <xsd:element name="TaxCatchAll" ma:index="20" nillable="true" ma:displayName="Taxonomy Catch All Column" ma:hidden="true" ma:list="{856fd02c-12a9-44be-8fad-eeb31c50567a}" ma:internalName="TaxCatchAll" ma:showField="CatchAllData" ma:web="4a4359fa-112d-474e-a486-5b47d80a81e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3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4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86E2015-9CB2-42F7-B24E-1548D37B633C}">
  <ds:schemaRefs>
    <ds:schemaRef ds:uri="http://schemas.microsoft.com/office/2006/metadata/properties"/>
    <ds:schemaRef ds:uri="http://schemas.microsoft.com/office/infopath/2007/PartnerControls"/>
    <ds:schemaRef ds:uri="4a4359fa-112d-474e-a486-5b47d80a81e8"/>
    <ds:schemaRef ds:uri="a257368d-65d3-43f8-8bc1-38945c4f6164"/>
  </ds:schemaRefs>
</ds:datastoreItem>
</file>

<file path=customXml/itemProps2.xml><?xml version="1.0" encoding="utf-8"?>
<ds:datastoreItem xmlns:ds="http://schemas.openxmlformats.org/officeDocument/2006/customXml" ds:itemID="{CD83DC1F-A37F-406A-9102-37E7DA5CD83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AC0C8B0-93A7-4B5B-9D9F-3146A7E8E1D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257368d-65d3-43f8-8bc1-38945c4f6164"/>
    <ds:schemaRef ds:uri="4a4359fa-112d-474e-a486-5b47d80a81e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3382</TotalTime>
  <Words>368</Words>
  <Application>Microsoft Office PowerPoint</Application>
  <PresentationFormat>Presentación en pantalla (4:3)</PresentationFormat>
  <Paragraphs>27</Paragraphs>
  <Slides>11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2" baseType="lpstr">
      <vt:lpstr>Diseño predeterminado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CASA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Jesus</dc:creator>
  <cp:lastModifiedBy>AMADEO BENAVENT CLIMENT</cp:lastModifiedBy>
  <cp:revision>345</cp:revision>
  <cp:lastPrinted>2021-04-22T11:49:00Z</cp:lastPrinted>
  <dcterms:created xsi:type="dcterms:W3CDTF">2007-05-10T19:10:59Z</dcterms:created>
  <dcterms:modified xsi:type="dcterms:W3CDTF">2026-03-12T17:15:45Z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0x010100D2BDF103A78BBC40ABF82F172D242B98</vt:lpwstr>
  </property>
  <property fmtid="{D5CDD505-2E9C-101B-9397-08002B2CF9AE}" pid="3" name="MediaServiceImageTags">
    <vt:lpwstr/>
  </property>
</Properties>
</file>