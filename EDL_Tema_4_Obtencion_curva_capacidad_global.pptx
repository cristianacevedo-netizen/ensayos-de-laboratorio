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7" r:id="rId11"/>
    <p:sldId id="295" r:id="rId12"/>
    <p:sldId id="286" r:id="rId13"/>
    <p:sldId id="290" r:id="rId14"/>
    <p:sldId id="288" r:id="rId15"/>
    <p:sldId id="283" r:id="rId16"/>
    <p:sldId id="282" r:id="rId17"/>
    <p:sldId id="289" r:id="rId18"/>
    <p:sldId id="291" r:id="rId19"/>
    <p:sldId id="292" r:id="rId20"/>
    <p:sldId id="293" r:id="rId21"/>
    <p:sldId id="294" r:id="rId22"/>
    <p:sldId id="285" r:id="rId23"/>
    <p:sldId id="296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77"/>
    <p:restoredTop sz="94699"/>
  </p:normalViewPr>
  <p:slideViewPr>
    <p:cSldViewPr>
      <p:cViewPr varScale="1">
        <p:scale>
          <a:sx n="115" d="100"/>
          <a:sy n="115" d="100"/>
        </p:scale>
        <p:origin x="229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834E698-A6FD-7747-BF77-6AD0C7D51E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35E0619-99A3-1548-8E22-4EBD3DC6A5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A7ED505-DCE8-A641-B6AB-3CECD91C9C2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973F79-0A43-B849-9277-262E833467F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C" noProof="0"/>
              <a:t>Haga clic para modificar el estilo de texto del patrón</a:t>
            </a:r>
          </a:p>
          <a:p>
            <a:pPr lvl="1"/>
            <a:r>
              <a:rPr lang="en-US" altLang="es-EC" noProof="0"/>
              <a:t>Segundo nivel</a:t>
            </a:r>
          </a:p>
          <a:p>
            <a:pPr lvl="2"/>
            <a:r>
              <a:rPr lang="en-US" altLang="es-EC" noProof="0"/>
              <a:t>Tercer nivel</a:t>
            </a:r>
          </a:p>
          <a:p>
            <a:pPr lvl="3"/>
            <a:r>
              <a:rPr lang="en-US" altLang="es-EC" noProof="0"/>
              <a:t>Cuarto nivel</a:t>
            </a:r>
          </a:p>
          <a:p>
            <a:pPr lvl="4"/>
            <a:r>
              <a:rPr lang="en-US" altLang="es-EC" noProof="0"/>
              <a:t>Quinto nivel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09FD267-5302-F041-8C1F-FBAB4443C9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EEA3751-7808-BC44-AF96-1334E6F5D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099860E-0F26-4743-8891-3EDBFBD1D90C}" type="slidenum">
              <a:rPr lang="en-US" altLang="es-EC"/>
              <a:pPr>
                <a:defRPr/>
              </a:pPr>
              <a:t>‹Nº›</a:t>
            </a:fld>
            <a:endParaRPr lang="en-US" altLang="es-EC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-principal">
            <a:extLst>
              <a:ext uri="{FF2B5EF4-FFF2-40B4-BE49-F238E27FC236}">
                <a16:creationId xmlns:a16="http://schemas.microsoft.com/office/drawing/2014/main" id="{B1DC4FBA-A37B-D945-A19F-BC34BBEDA9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43" b="41760"/>
          <a:stretch>
            <a:fillRect/>
          </a:stretch>
        </p:blipFill>
        <p:spPr bwMode="auto">
          <a:xfrm>
            <a:off x="4638675" y="1196975"/>
            <a:ext cx="4505325" cy="56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logo-principal copia">
            <a:extLst>
              <a:ext uri="{FF2B5EF4-FFF2-40B4-BE49-F238E27FC236}">
                <a16:creationId xmlns:a16="http://schemas.microsoft.com/office/drawing/2014/main" id="{E0A691B3-9003-D64B-AF7F-F64F99C4BA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06563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Politecnica">
            <a:extLst>
              <a:ext uri="{FF2B5EF4-FFF2-40B4-BE49-F238E27FC236}">
                <a16:creationId xmlns:a16="http://schemas.microsoft.com/office/drawing/2014/main" id="{69FF4B9C-6B82-804F-92D6-F7A78900F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7338"/>
            <a:ext cx="563563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Barra">
            <a:extLst>
              <a:ext uri="{FF2B5EF4-FFF2-40B4-BE49-F238E27FC236}">
                <a16:creationId xmlns:a16="http://schemas.microsoft.com/office/drawing/2014/main" id="{FA05B4F0-96F2-7043-B696-BFA2DD1021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981075"/>
            <a:ext cx="7380287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s-EC" noProof="0"/>
              <a:t>Haga clic para modificar el estilo de subtítulo del patrón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s-EC" noProof="0"/>
              <a:t>Haga clic para cambiar el estilo de título	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E75BA3-B907-EF41-B76C-86FFE77C55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4213" y="6245225"/>
            <a:ext cx="1906587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7F80F4B-91BE-6446-83C1-FC1AE1340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173DDB7-F782-3541-87C5-C7ED01D47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E980E67-9353-C446-B01D-6DA60134A609}" type="slidenum">
              <a:rPr lang="en-US" altLang="es-EC"/>
              <a:pPr>
                <a:defRPr/>
              </a:pPr>
              <a:t>‹Nº›</a:t>
            </a:fld>
            <a:endParaRPr lang="en-US" altLang="es-EC"/>
          </a:p>
        </p:txBody>
      </p:sp>
    </p:spTree>
    <p:extLst>
      <p:ext uri="{BB962C8B-B14F-4D97-AF65-F5344CB8AC3E}">
        <p14:creationId xmlns:p14="http://schemas.microsoft.com/office/powerpoint/2010/main" val="222273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694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2638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8985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29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2726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4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4038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C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8758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8526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910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>
            <a:extLst>
              <a:ext uri="{FF2B5EF4-FFF2-40B4-BE49-F238E27FC236}">
                <a16:creationId xmlns:a16="http://schemas.microsoft.com/office/drawing/2014/main" id="{20EB6FE3-2DD2-104F-B217-620D8A3DA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7593" y="3175914"/>
            <a:ext cx="5184576" cy="536305"/>
          </a:xfrm>
        </p:spPr>
        <p:txBody>
          <a:bodyPr/>
          <a:lstStyle/>
          <a:p>
            <a:r>
              <a:rPr lang="es-ES" b="1" dirty="0"/>
              <a:t>TEMA 4: </a:t>
            </a:r>
          </a:p>
          <a:p>
            <a:r>
              <a:rPr lang="es-ES" b="1" dirty="0"/>
              <a:t>OBTENCION EXPERIMENTAL DE LA CURVA DE CAPACIDAD GLOBAL DE LA ESTRUCTURA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D305A5A8-8A64-4948-8CF6-925582CE353C}"/>
              </a:ext>
            </a:extLst>
          </p:cNvPr>
          <p:cNvSpPr txBox="1">
            <a:spLocks/>
          </p:cNvSpPr>
          <p:nvPr/>
        </p:nvSpPr>
        <p:spPr bwMode="auto">
          <a:xfrm>
            <a:off x="801429" y="2085541"/>
            <a:ext cx="8136904" cy="132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ENSAYOS DINÁMICOS DE LABORATORIO</a:t>
            </a:r>
            <a:endParaRPr lang="es-ES" altLang="en-US" sz="1600" b="1" dirty="0"/>
          </a:p>
          <a:p>
            <a:pPr eaLnBrk="1" hangingPunct="1">
              <a:lnSpc>
                <a:spcPct val="80000"/>
              </a:lnSpc>
            </a:pPr>
            <a:endParaRPr lang="es-ES" alt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D305A5A8-8A64-4948-8CF6-925582CE353C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F826D2-2FA3-9A6C-424D-821B74F49B23}"/>
                  </a:ext>
                </a:extLst>
              </p:cNvPr>
              <p:cNvSpPr txBox="1"/>
              <p:nvPr/>
            </p:nvSpPr>
            <p:spPr>
              <a:xfrm>
                <a:off x="903503" y="1772816"/>
                <a:ext cx="7985066" cy="4124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buNone/>
                </a:pP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The equations of motion of the two-mass lumped model used to idealize the test specimen are:</a:t>
                </a:r>
              </a:p>
              <a:p>
                <a:pPr marL="0" marR="0" algn="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2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𝐦</m:t>
                    </m:r>
                    <m:sSup>
                      <m:sSup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2200" b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𝐮</m:t>
                            </m:r>
                          </m:e>
                        </m:acc>
                      </m:e>
                      <m:sup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𝐭</m:t>
                        </m:r>
                      </m:sup>
                    </m:sSup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en-US" sz="22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𝐜</m:t>
                    </m:r>
                    <m:acc>
                      <m:accPr>
                        <m:chr m:val="̇"/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𝐮</m:t>
                        </m:r>
                      </m:e>
                    </m:acc>
                    <m:r>
                      <a:rPr lang="en-US" sz="2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  <m:sub>
                        <m: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𝒔</m:t>
                        </m:r>
                      </m:sub>
                    </m:sSub>
                    <m:r>
                      <a:rPr lang="en-US" sz="2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2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                                      (1)                                                                                                                                                  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where 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 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is the diagonal mass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2200" b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𝐮</m:t>
                            </m:r>
                          </m:e>
                        </m:acc>
                      </m:e>
                      <m:sup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𝐭</m:t>
                        </m:r>
                      </m:sup>
                    </m:sSup>
                    <m:r>
                      <a:rPr lang="en-US" sz="2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is the vector of absolute accelerations, 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is the damping matrix,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𝐮</m:t>
                        </m:r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is the vector of relative velocities and 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b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</a:t>
                </a:r>
                <a:r>
                  <a:rPr lang="en-US" sz="22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the vector of restoring forces exerted by the structure. 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is known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2200" b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𝐮</m:t>
                            </m:r>
                          </m:e>
                        </m:acc>
                      </m:e>
                      <m:sup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𝐭</m:t>
                        </m:r>
                      </m:sup>
                    </m:sSup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was measured with the accelerometers; therefore the base shear force in the X and Y directions, </a:t>
                </a:r>
                <a:r>
                  <a:rPr lang="en-US" sz="22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i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IB,X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and </a:t>
                </a:r>
                <a:r>
                  <a:rPr lang="en-US" sz="22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i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IB,Y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exerted by the inertial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𝐅</m:t>
                        </m:r>
                      </m:e>
                      <m:sub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𝐈</m:t>
                        </m:r>
                      </m:sub>
                    </m:sSub>
                    <m:r>
                      <a:rPr lang="en-US" sz="22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22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𝐦</m:t>
                    </m:r>
                    <m:sSup>
                      <m:sSup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2200" b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𝐮</m:t>
                            </m:r>
                          </m:e>
                        </m:acc>
                      </m:e>
                      <m:sup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𝐭</m:t>
                        </m:r>
                      </m:sup>
                    </m:sSup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=−(</m:t>
                    </m:r>
                    <m:r>
                      <a:rPr lang="en-US" sz="22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𝐜</m:t>
                    </m:r>
                    <m:acc>
                      <m:accPr>
                        <m:chr m:val="̇"/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22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𝐮</m:t>
                        </m:r>
                      </m:e>
                    </m:acc>
                    <m:r>
                      <a:rPr lang="en-US" sz="2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  <m:sub>
                        <m: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𝒔</m:t>
                        </m:r>
                      </m:sub>
                    </m:sSub>
                    <m:r>
                      <a:rPr lang="en-US" sz="2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are simply </a:t>
                </a:r>
                <a:r>
                  <a:rPr lang="en-US" sz="22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i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IB,X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</a:t>
                </a:r>
                <a:r>
                  <a:rPr lang="en-US" sz="22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b="1" baseline="-25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US" sz="2200" baseline="30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</a:t>
                </a:r>
                <a:r>
                  <a:rPr lang="en-US" sz="22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</a:t>
                </a:r>
                <a:r>
                  <a:rPr lang="en-US" sz="2200" baseline="-25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en-US" sz="22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and </a:t>
                </a:r>
                <a:r>
                  <a:rPr lang="en-US" sz="22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i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IB,Y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</a:t>
                </a:r>
                <a:r>
                  <a:rPr lang="en-US" sz="2200" b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US" sz="2200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</a:t>
                </a:r>
                <a:r>
                  <a:rPr lang="en-US" sz="22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Y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where the vectors </a:t>
                </a:r>
                <a:r>
                  <a:rPr lang="en-US" sz="22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</a:t>
                </a:r>
                <a:r>
                  <a:rPr lang="en-US" sz="2200" baseline="-25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and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J</a:t>
                </a:r>
                <a:r>
                  <a:rPr lang="en-US" sz="22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Y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are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200" b="1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</a:t>
                </a:r>
                <a:r>
                  <a:rPr lang="en-US" sz="2200" baseline="-25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en-US" sz="2200" baseline="30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=[1 0 0 1 0 0] and </a:t>
                </a:r>
                <a:r>
                  <a:rPr lang="en-US" sz="2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</a:t>
                </a:r>
                <a:r>
                  <a:rPr lang="en-US" sz="22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Y</a:t>
                </a:r>
                <a:r>
                  <a:rPr lang="en-US" sz="2200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</a:t>
                </a:r>
                <a:r>
                  <a:rPr lang="en-US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=[0 1 0 0 1 0].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F826D2-2FA3-9A6C-424D-821B74F49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03" y="1772816"/>
                <a:ext cx="7985066" cy="4124206"/>
              </a:xfrm>
              <a:prstGeom prst="rect">
                <a:avLst/>
              </a:prstGeom>
              <a:blipFill>
                <a:blip r:embed="rId2"/>
                <a:stretch>
                  <a:fillRect l="-954" t="-920" r="-76153" b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21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55E8D-C522-AD53-C66A-93AA5B84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5BA3F457-F464-A63A-0D84-096D22C91E37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3965D-FD74-0769-C524-7EDC5698D932}"/>
              </a:ext>
            </a:extLst>
          </p:cNvPr>
          <p:cNvSpPr txBox="1"/>
          <p:nvPr/>
        </p:nvSpPr>
        <p:spPr>
          <a:xfrm>
            <a:off x="903503" y="1268760"/>
            <a:ext cx="79850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The Figures below show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IB,X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plotted against the X displacement of the top of the structure,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T,X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for tests C35 and C50: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7639E-227F-46F4-37E3-0F532B6C5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082870"/>
            <a:ext cx="6408712" cy="457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3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BBBE-B796-0BA3-F407-B907C9C8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9E32B5EB-625D-08F4-AF74-D4F6D6467D67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7F378-950A-EC58-EF05-99E15545609B}"/>
              </a:ext>
            </a:extLst>
          </p:cNvPr>
          <p:cNvSpPr txBox="1"/>
          <p:nvPr/>
        </p:nvSpPr>
        <p:spPr>
          <a:xfrm>
            <a:off x="971600" y="1363415"/>
            <a:ext cx="79850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The Figures below show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IB,X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plotted against the X displacement of the top of the structure,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T,X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for test C100: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4F99A-3534-041C-85B0-C86DC97C5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132856"/>
            <a:ext cx="5821289" cy="450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9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2BAFF-B5F4-D8AA-F330-0129036A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F6275C91-9948-AB89-1E9B-627D4684E9AF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74467-B2CD-EF51-7239-8EE2A8CC8A6A}"/>
              </a:ext>
            </a:extLst>
          </p:cNvPr>
          <p:cNvSpPr txBox="1"/>
          <p:nvPr/>
        </p:nvSpPr>
        <p:spPr>
          <a:xfrm>
            <a:off x="903503" y="1268760"/>
            <a:ext cx="79850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The Figures below show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IB,X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plotted against the X displacement of the top of the structure,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T,X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for tests C200i and C200: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74268F-8FDB-5193-BE6B-98D8FCE5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132856"/>
            <a:ext cx="5975548" cy="447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1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B1FB-4B98-A6FE-DAD2-1519F506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D7EA562F-0E50-A6ED-653D-DA34600596BE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8C4D6-7898-7293-5F23-8EB1E4973AEF}"/>
              </a:ext>
            </a:extLst>
          </p:cNvPr>
          <p:cNvSpPr txBox="1"/>
          <p:nvPr/>
        </p:nvSpPr>
        <p:spPr>
          <a:xfrm>
            <a:off x="903503" y="1268760"/>
            <a:ext cx="79850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The Figures below show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IB,X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plotted against the X displacement of the top of the structure,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T,X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for test C300: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E3076-60C8-2A46-FCB0-CE1E46ADD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04" y="2276872"/>
            <a:ext cx="6364958" cy="447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8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98094-47AC-7F54-40F5-E1A067E2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28E5DCA3-D4CF-3ABD-AD65-3DB16F357A8C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D74DF-E312-4C09-3B7E-52247835D43E}"/>
              </a:ext>
            </a:extLst>
          </p:cNvPr>
          <p:cNvSpPr txBox="1"/>
          <p:nvPr/>
        </p:nvSpPr>
        <p:spPr>
          <a:xfrm>
            <a:off x="1043608" y="1268760"/>
            <a:ext cx="79850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The Figures below show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IB,X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plotted against the X displacement of the top of the structure,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T,X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for ALL tests until collapse: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BBB7E-AC7B-C1AC-4AE6-E8EE2FD74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204864"/>
            <a:ext cx="6094790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2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0BFA7-C4A8-2F44-CF7E-47E3AF20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AE88020B-49EC-D834-6560-A3B31B462FF9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D8036-9FC5-F849-31B6-C5E321B781CB}"/>
              </a:ext>
            </a:extLst>
          </p:cNvPr>
          <p:cNvSpPr txBox="1"/>
          <p:nvPr/>
        </p:nvSpPr>
        <p:spPr>
          <a:xfrm>
            <a:off x="971600" y="1263566"/>
            <a:ext cx="79850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The Figure below show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IB,X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plotted against the X displacement of the top of the structure, </a:t>
            </a: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T,X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for ALL tests until collapse, with circles that corresponds to points of zero velocity and capacity curve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4F386-2B5E-9773-677F-0272707E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436520"/>
            <a:ext cx="6217721" cy="44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03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8F6D-BB3C-0884-A6BE-E4F8AA47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C1084CF3-DEEE-94AE-E843-C4D61171C5CD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181B4-ED41-50EE-223F-00699DC1E73C}"/>
              </a:ext>
            </a:extLst>
          </p:cNvPr>
          <p:cNvSpPr txBox="1"/>
          <p:nvPr/>
        </p:nvSpPr>
        <p:spPr>
          <a:xfrm>
            <a:off x="1979712" y="1268760"/>
            <a:ext cx="58326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Bilinear idealization of the capacity curve in X: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EEE127-2F7B-8229-2DE7-B0577288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699647"/>
            <a:ext cx="6799574" cy="498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7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EE38-9346-B389-8FE8-A41EDBF7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E4567AED-6D09-8213-87CF-57422F28A704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CUESTIONES SOBRE LA EXACTITUD DE LA CURVA DE CAPACIDAD OBTENIDA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335C2-CD70-4203-1008-E7E7E9721F0D}"/>
              </a:ext>
            </a:extLst>
          </p:cNvPr>
          <p:cNvSpPr txBox="1"/>
          <p:nvPr/>
        </p:nvSpPr>
        <p:spPr>
          <a:xfrm>
            <a:off x="827584" y="1772816"/>
            <a:ext cx="813690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¿Estamos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seguros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que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instantes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que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el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desplazamiento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cubierta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vale cero las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fuerzas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amortiguamiento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valen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exactamente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cero?</a:t>
            </a:r>
          </a:p>
          <a:p>
            <a:pPr marL="457200" marR="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¿En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qué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casos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la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respuesta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a la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pregunta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anterior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sería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afirmativa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?</a:t>
            </a:r>
          </a:p>
          <a:p>
            <a:pPr marL="457200" marR="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¿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Cómo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podríamos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evaluar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la “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exactitud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” de la curva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capacidad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obtenida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?  ¿Y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derivamos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desplazamientos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respecto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al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tiempo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para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obtener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las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velocidades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?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7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6D08-5748-D9C7-79D0-5172F868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6B53E3AA-7179-8235-D9D9-4B6A2860C907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Posibles problemas con las señales de aceleración…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08C63-5118-8089-3983-6584BDAFCB3E}"/>
              </a:ext>
            </a:extLst>
          </p:cNvPr>
          <p:cNvSpPr txBox="1"/>
          <p:nvPr/>
        </p:nvSpPr>
        <p:spPr>
          <a:xfrm>
            <a:off x="827584" y="2060848"/>
            <a:ext cx="813690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spcBef>
                <a:spcPts val="600"/>
              </a:spcBef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Canales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que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se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han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saturado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largos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periodos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tiempo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: no se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pueden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aprovechar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Solución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cambiar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el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canal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si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es possible.</a:t>
            </a:r>
          </a:p>
          <a:p>
            <a:pPr marL="342900" marR="0" indent="-342900" algn="just">
              <a:spcBef>
                <a:spcPts val="600"/>
              </a:spcBef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Canales con puntos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espurios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Solución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eliminarlos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marR="0" indent="-342900" algn="just">
              <a:spcBef>
                <a:spcPts val="600"/>
              </a:spcBef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Contenido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frecuencias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altas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espurias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Solución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filtrar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la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señal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342900" marR="0" indent="-342900" algn="just">
              <a:spcBef>
                <a:spcPts val="600"/>
              </a:spcBef>
              <a:buFontTx/>
              <a:buChar char="-"/>
            </a:pP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R="0" algn="ctr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EXAMINAR SEÑALES DEL ESPECIMEN BS1</a:t>
            </a:r>
          </a:p>
        </p:txBody>
      </p:sp>
    </p:spTree>
    <p:extLst>
      <p:ext uri="{BB962C8B-B14F-4D97-AF65-F5344CB8AC3E}">
        <p14:creationId xmlns:p14="http://schemas.microsoft.com/office/powerpoint/2010/main" val="180890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6EA62-6B25-4FEC-0B43-92675E95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D3910B8E-4542-8EAA-B361-D633386DE1FD}"/>
              </a:ext>
            </a:extLst>
          </p:cNvPr>
          <p:cNvSpPr txBox="1">
            <a:spLocks/>
          </p:cNvSpPr>
          <p:nvPr/>
        </p:nvSpPr>
        <p:spPr bwMode="auto">
          <a:xfrm>
            <a:off x="827584" y="404664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Forma práctica de determinar los puntos de la curva de capacidad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0B7104B-F206-1A31-4804-B51F6C91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7" y="1403480"/>
            <a:ext cx="6922239" cy="519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6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90D03-E105-6043-9C8A-3694F235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863807F7-E949-AA3A-7F6F-620E3A4AD826}"/>
              </a:ext>
            </a:extLst>
          </p:cNvPr>
          <p:cNvSpPr txBox="1">
            <a:spLocks/>
          </p:cNvSpPr>
          <p:nvPr/>
        </p:nvSpPr>
        <p:spPr bwMode="auto">
          <a:xfrm>
            <a:off x="827584" y="404664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Forma práctica de determinar los puntos de la curva de capacidad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51E6AC-96FA-A73A-7582-06696BFA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79" y="1484784"/>
            <a:ext cx="6319147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11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B405-48D9-BF3E-5493-781A362B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4DB09CA3-AE76-9D76-8BF7-FE2C2CAADD2B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028ED-66A3-A590-7C08-E6E98307C9C9}"/>
              </a:ext>
            </a:extLst>
          </p:cNvPr>
          <p:cNvSpPr txBox="1"/>
          <p:nvPr/>
        </p:nvSpPr>
        <p:spPr>
          <a:xfrm>
            <a:off x="827584" y="1844824"/>
            <a:ext cx="8136904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Otra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verificación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…</a:t>
            </a:r>
          </a:p>
          <a:p>
            <a:pPr marL="0" marR="0" algn="just">
              <a:buNone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La curva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capacidad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obtenida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con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el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procedimiento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indicado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se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podría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comparar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con la curva F</a:t>
            </a:r>
            <a:r>
              <a:rPr lang="en-US" sz="22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versus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desplazamiento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cubierta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empleando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la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aproximación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realizada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para las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fuerzas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amortiguamiento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BB6D0ED-A1FB-6945-EFBD-917C9CE53D3F}"/>
                  </a:ext>
                </a:extLst>
              </p:cNvPr>
              <p:cNvSpPr txBox="1"/>
              <p:nvPr/>
            </p:nvSpPr>
            <p:spPr>
              <a:xfrm>
                <a:off x="2915816" y="3789040"/>
                <a:ext cx="3672408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30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  <m:sub>
                        <m:r>
                          <a:rPr lang="en-US" sz="30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𝒔</m:t>
                        </m:r>
                      </m:sub>
                    </m:sSub>
                    <m:r>
                      <a:rPr lang="en-US" sz="30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s-ES" sz="30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−[</m:t>
                    </m:r>
                    <m:r>
                      <a:rPr lang="en-US" sz="3000" b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𝐦</m:t>
                    </m:r>
                    <m:sSup>
                      <m:sSupPr>
                        <m:ctrlPr>
                          <a:rPr lang="en-US" sz="3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sz="30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3000" b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𝐮</m:t>
                            </m:r>
                          </m:e>
                        </m:acc>
                      </m:e>
                      <m:sup>
                        <m:r>
                          <a:rPr lang="en-US" sz="3000" b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𝐭</m:t>
                        </m:r>
                      </m:sup>
                    </m:sSup>
                    <m:r>
                      <a:rPr lang="en-US" sz="3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en-US" sz="3000" b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𝐜</m:t>
                    </m:r>
                    <m:acc>
                      <m:accPr>
                        <m:chr m:val="̇"/>
                        <m:ctrlPr>
                          <a:rPr lang="en-US" sz="3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3000" b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𝐮</m:t>
                        </m:r>
                      </m:e>
                    </m:acc>
                    <m:r>
                      <a:rPr lang="es-ES" sz="30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</m:t>
                    </m:r>
                  </m:oMath>
                </a14:m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en-GB" sz="3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BB6D0ED-A1FB-6945-EFBD-917C9CE53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789040"/>
                <a:ext cx="3672408" cy="553998"/>
              </a:xfrm>
              <a:prstGeom prst="rect">
                <a:avLst/>
              </a:prstGeom>
              <a:blipFill>
                <a:blip r:embed="rId2"/>
                <a:stretch>
                  <a:fillRect l="-1034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994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F7CA-A9C6-40D8-3A80-CDDEA851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A3A077C6-D14C-8CAB-F368-7952EA9974E8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0B7B06-4354-A174-5268-A5C8595427CD}"/>
              </a:ext>
            </a:extLst>
          </p:cNvPr>
          <p:cNvSpPr txBox="1"/>
          <p:nvPr/>
        </p:nvSpPr>
        <p:spPr>
          <a:xfrm>
            <a:off x="683568" y="2564904"/>
            <a:ext cx="82809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bilinear approximation serves to define a yield base shear force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BXy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yield top displacement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X direction for each domain of loading. The values obtained are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BXy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=57kN,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TXy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=23 mm,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BXy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=58kN,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=23 mm in the X direction. The base shear force coefficients in X direction, in the positive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negative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domains, are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=57/122.3=0.47,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=58/122.3=0.47. 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the maximum displacements in  X domain of loading are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TXu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=48 mm,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TXu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=58 mm. The corresponding ductility factors are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TXu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TXy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=48/23=2.1,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TXu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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TXy</a:t>
            </a:r>
            <a:r>
              <a:rPr lang="en-US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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58/23=2.5. The minimum value is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=2.1.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21BE8-8440-91E2-11F7-16B187BC7161}"/>
              </a:ext>
            </a:extLst>
          </p:cNvPr>
          <p:cNvSpPr txBox="1"/>
          <p:nvPr/>
        </p:nvSpPr>
        <p:spPr>
          <a:xfrm>
            <a:off x="827584" y="1628800"/>
            <a:ext cx="79928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 Base shear force coefficients and ductility factors obtained from the bilinear idealization of the capacity curve in X</a:t>
            </a:r>
            <a:endParaRPr lang="en-US" sz="22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373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AAA1-5984-8049-44C7-2A7EA526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29AAE299-FA90-ED2A-041C-06F6521AA300}"/>
              </a:ext>
            </a:extLst>
          </p:cNvPr>
          <p:cNvSpPr txBox="1">
            <a:spLocks/>
          </p:cNvSpPr>
          <p:nvPr/>
        </p:nvSpPr>
        <p:spPr bwMode="auto">
          <a:xfrm>
            <a:off x="971600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ENSAYOS SÍSMICOS DE ESTRUCTURAS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48B82D-5C20-9A44-075D-5359CC4D83EF}"/>
              </a:ext>
            </a:extLst>
          </p:cNvPr>
          <p:cNvSpPr txBox="1"/>
          <p:nvPr/>
        </p:nvSpPr>
        <p:spPr>
          <a:xfrm>
            <a:off x="1691680" y="1340768"/>
            <a:ext cx="66247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</a:rPr>
              <a:t>Determination of </a:t>
            </a:r>
            <a:r>
              <a:rPr lang="en-US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factor for force-based approach</a:t>
            </a:r>
            <a:endParaRPr lang="en-US" sz="22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1AC46-DBD9-F44D-802B-7F0DE0DAD0C3}"/>
              </a:ext>
            </a:extLst>
          </p:cNvPr>
          <p:cNvSpPr txBox="1"/>
          <p:nvPr/>
        </p:nvSpPr>
        <p:spPr>
          <a:xfrm>
            <a:off x="611560" y="1807135"/>
            <a:ext cx="82809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2G EN 1998 computes </a:t>
            </a:r>
            <a:r>
              <a:rPr lang="en-US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the product of three components </a:t>
            </a:r>
            <a:r>
              <a:rPr lang="en-US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q=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Here, 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accounts for the overstrength due to a redistribution of seismic action in redundant structures, 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i="1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accounts for overstrength due to all other sources, and 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accounts for the plastic deformation capacity. </a:t>
            </a:r>
          </a:p>
          <a:p>
            <a:pPr marL="342900" marR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Dividing the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 shear force coefficients obtained from the tests, 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2200" i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BX</a:t>
            </a:r>
            <a:r>
              <a:rPr lang="en-US" sz="2200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2200" i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BX</a:t>
            </a:r>
            <a:r>
              <a:rPr lang="en-US" sz="2200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=0.47 by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base shear force coefficient used in the design (0.33) gives 0.47/0.33=1.42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This value can be taken as a estimation of </a:t>
            </a:r>
            <a:r>
              <a:rPr lang="en-US" sz="22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overstrength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marR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Based only on the results in the X direction, this </a:t>
            </a:r>
            <a:r>
              <a:rPr lang="en-US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would give a behavior factor </a:t>
            </a:r>
            <a:r>
              <a:rPr lang="en-US" sz="2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</a:t>
            </a:r>
            <a:r>
              <a:rPr lang="en-US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of </a:t>
            </a:r>
            <a:r>
              <a:rPr lang="en-US" sz="2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q=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1.42 x 2.1</a:t>
            </a:r>
            <a:r>
              <a:rPr lang="en-US" sz="22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2.98</a:t>
            </a:r>
            <a:r>
              <a:rPr lang="en-US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Note: In 2G EN1198, for flat slabs: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=1.1,</a:t>
            </a:r>
            <a:r>
              <a:rPr lang="en-US" sz="22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=1.5 and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=1.2, </a:t>
            </a:r>
            <a:r>
              <a:rPr lang="en-US" sz="22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=2.</a:t>
            </a:r>
          </a:p>
          <a:p>
            <a:pPr marL="342900" marR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HOME WORK: CALCULATE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2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2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2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 THE Y DIRECTION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68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1747-C094-D89E-7942-5DD46CD66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2E887DB8-3000-A24B-2D73-61C5352C7A2C}"/>
              </a:ext>
            </a:extLst>
          </p:cNvPr>
          <p:cNvSpPr txBox="1">
            <a:spLocks/>
          </p:cNvSpPr>
          <p:nvPr/>
        </p:nvSpPr>
        <p:spPr bwMode="auto">
          <a:xfrm>
            <a:off x="827584" y="404664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APROXIMACION DE LA CURVA DE CAPACIDAD CON 2G EN1998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CC4F31F-20B9-27D3-C9F4-ED309B71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396"/>
          <a:stretch>
            <a:fillRect/>
          </a:stretch>
        </p:blipFill>
        <p:spPr>
          <a:xfrm>
            <a:off x="2591767" y="1196752"/>
            <a:ext cx="4656535" cy="1723031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22A52A7B-8847-D182-B037-078822C4C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919783"/>
            <a:ext cx="6768752" cy="3837951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E88962B-73C9-704E-3A0A-E5CC530F283A}"/>
              </a:ext>
            </a:extLst>
          </p:cNvPr>
          <p:cNvCxnSpPr/>
          <p:nvPr/>
        </p:nvCxnSpPr>
        <p:spPr>
          <a:xfrm flipH="1">
            <a:off x="6948368" y="1868469"/>
            <a:ext cx="300038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0CC28C3-8FE0-1E59-AA35-2023A40A1650}"/>
              </a:ext>
            </a:extLst>
          </p:cNvPr>
          <p:cNvSpPr txBox="1"/>
          <p:nvPr/>
        </p:nvSpPr>
        <p:spPr>
          <a:xfrm>
            <a:off x="7248302" y="1412776"/>
            <a:ext cx="135614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Caída</a:t>
            </a:r>
            <a:r>
              <a:rPr lang="en-GB" dirty="0"/>
              <a:t> de </a:t>
            </a:r>
            <a:r>
              <a:rPr lang="en-GB" dirty="0" err="1"/>
              <a:t>resistencia</a:t>
            </a:r>
            <a:r>
              <a:rPr lang="en-GB" dirty="0"/>
              <a:t> del 20%</a:t>
            </a:r>
          </a:p>
        </p:txBody>
      </p:sp>
    </p:spTree>
    <p:extLst>
      <p:ext uri="{BB962C8B-B14F-4D97-AF65-F5344CB8AC3E}">
        <p14:creationId xmlns:p14="http://schemas.microsoft.com/office/powerpoint/2010/main" val="417560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29D1-EB3A-2095-F317-EB5D4455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0599C6A3-5076-BCAF-90A0-4D3DE9CC1C3B}"/>
              </a:ext>
            </a:extLst>
          </p:cNvPr>
          <p:cNvSpPr txBox="1">
            <a:spLocks/>
          </p:cNvSpPr>
          <p:nvPr/>
        </p:nvSpPr>
        <p:spPr bwMode="auto">
          <a:xfrm>
            <a:off x="827584" y="260648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Notas sobre el despreciar la velocidad angular absoluta al cuadrado respecto a la aceleración angular absoluta…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1F615D-20FA-1D0C-476D-9CDDA18AD92C}"/>
              </a:ext>
            </a:extLst>
          </p:cNvPr>
          <p:cNvSpPr txBox="1"/>
          <p:nvPr/>
        </p:nvSpPr>
        <p:spPr>
          <a:xfrm>
            <a:off x="2263470" y="1340768"/>
            <a:ext cx="5328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 UNA ESTRUCTURA DOBLEMENTE SIMÉTRICA</a:t>
            </a:r>
          </a:p>
          <a:p>
            <a:r>
              <a:rPr lang="es-ES" b="1" dirty="0"/>
              <a:t>                 (Espécimen FVD2 y </a:t>
            </a:r>
            <a:r>
              <a:rPr lang="es-ES" b="1" dirty="0" err="1"/>
              <a:t>Calitri</a:t>
            </a:r>
            <a:r>
              <a:rPr lang="es-ES" b="1" dirty="0"/>
              <a:t> 100)</a:t>
            </a:r>
            <a:endParaRPr lang="en-GB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5693B9C-F166-929A-2C26-07CC54433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7772400" cy="410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14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C41C-F1C9-7D13-220F-99F52F6D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7E2940DC-73C2-7882-27A6-BE2172E0C438}"/>
              </a:ext>
            </a:extLst>
          </p:cNvPr>
          <p:cNvSpPr txBox="1">
            <a:spLocks/>
          </p:cNvSpPr>
          <p:nvPr/>
        </p:nvSpPr>
        <p:spPr bwMode="auto">
          <a:xfrm>
            <a:off x="827584" y="260648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Notas sobre el despreciar la velocidad angular absoluta al cuadrado respecto a la aceleración angular absoluta…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7B6248-5802-4CA3-687E-91EE8B77A36A}"/>
              </a:ext>
            </a:extLst>
          </p:cNvPr>
          <p:cNvSpPr txBox="1"/>
          <p:nvPr/>
        </p:nvSpPr>
        <p:spPr>
          <a:xfrm>
            <a:off x="2263470" y="1340768"/>
            <a:ext cx="5328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 UNA ESTRUCTURA DOBLEMENTE SIMÉTRICA</a:t>
            </a:r>
          </a:p>
          <a:p>
            <a:r>
              <a:rPr lang="es-ES" b="1" dirty="0"/>
              <a:t>                 (Espécimen FVD2 y </a:t>
            </a:r>
            <a:r>
              <a:rPr lang="es-ES" b="1" dirty="0" err="1"/>
              <a:t>Calitri</a:t>
            </a:r>
            <a:r>
              <a:rPr lang="es-ES" b="1" dirty="0"/>
              <a:t> 100)</a:t>
            </a:r>
            <a:endParaRPr lang="en-GB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AF978BF-4791-D686-821E-9D7DB7F6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060848"/>
            <a:ext cx="7772400" cy="419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5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3AA25-2882-1415-0C3F-F9BEFA97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D6D986D9-2313-4C1A-62C1-9520ACFDC508}"/>
              </a:ext>
            </a:extLst>
          </p:cNvPr>
          <p:cNvSpPr txBox="1">
            <a:spLocks/>
          </p:cNvSpPr>
          <p:nvPr/>
        </p:nvSpPr>
        <p:spPr bwMode="auto">
          <a:xfrm>
            <a:off x="827584" y="260648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Notas sobre el despreciar la velocidad angular absoluta al cuadrado respecto a la aceleración angular absoluta…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8C0B0D-AD98-A967-19FA-A91715405846}"/>
              </a:ext>
            </a:extLst>
          </p:cNvPr>
          <p:cNvSpPr txBox="1"/>
          <p:nvPr/>
        </p:nvSpPr>
        <p:spPr>
          <a:xfrm>
            <a:off x="2263470" y="1340768"/>
            <a:ext cx="5328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 UNA ESTRUCTURA DOBLEMENTE SIMÉTRICA</a:t>
            </a:r>
          </a:p>
          <a:p>
            <a:r>
              <a:rPr lang="es-ES" b="1" dirty="0"/>
              <a:t>                 (Espécimen FVD2 y </a:t>
            </a:r>
            <a:r>
              <a:rPr lang="es-ES" b="1" dirty="0" err="1"/>
              <a:t>Calitri</a:t>
            </a:r>
            <a:r>
              <a:rPr lang="es-ES" b="1" dirty="0"/>
              <a:t> 100)</a:t>
            </a:r>
            <a:endParaRPr lang="en-GB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01D6A2-9008-BBF4-8B16-6A5EE524F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60848"/>
            <a:ext cx="76581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1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76410-2987-0B90-5080-C280A472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684EB881-F237-391C-9203-4987EDEF19A0}"/>
              </a:ext>
            </a:extLst>
          </p:cNvPr>
          <p:cNvSpPr txBox="1">
            <a:spLocks/>
          </p:cNvSpPr>
          <p:nvPr/>
        </p:nvSpPr>
        <p:spPr bwMode="auto">
          <a:xfrm>
            <a:off x="827584" y="260648"/>
            <a:ext cx="820036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000" b="1" dirty="0"/>
              <a:t>Notas sobre el despreciar la velocidad angular absoluta al cuadrado respecto a la aceleración angular absoluta…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D6B2E4-7D79-1683-9803-34088C708619}"/>
              </a:ext>
            </a:extLst>
          </p:cNvPr>
          <p:cNvSpPr txBox="1"/>
          <p:nvPr/>
        </p:nvSpPr>
        <p:spPr>
          <a:xfrm>
            <a:off x="1403648" y="1268760"/>
            <a:ext cx="7840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 UNA ESTRUCTURA DOBLEMENTE SIMÉTRICA (FVD2 y </a:t>
            </a:r>
            <a:r>
              <a:rPr lang="es-ES" b="1" dirty="0" err="1"/>
              <a:t>Calitri</a:t>
            </a:r>
            <a:r>
              <a:rPr lang="es-ES" b="1" dirty="0"/>
              <a:t> 100)</a:t>
            </a:r>
            <a:endParaRPr lang="en-GB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35DCF57-E0B9-0EE1-74B2-878600AB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50" y="4153892"/>
            <a:ext cx="7658100" cy="27041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6014A3-2859-2A2F-AC25-63AC53A66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02" y="1763787"/>
            <a:ext cx="8200364" cy="227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30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52F7-8C55-18E7-AA1D-A85AF888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CD7C4327-DECA-E197-C7C9-57637779729C}"/>
              </a:ext>
            </a:extLst>
          </p:cNvPr>
          <p:cNvSpPr txBox="1">
            <a:spLocks/>
          </p:cNvSpPr>
          <p:nvPr/>
        </p:nvSpPr>
        <p:spPr bwMode="auto">
          <a:xfrm>
            <a:off x="755576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PRACTICA A REALIZAR: PASOS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687DD-53CB-D041-DE65-80487E8C4CD2}"/>
              </a:ext>
            </a:extLst>
          </p:cNvPr>
          <p:cNvSpPr txBox="1"/>
          <p:nvPr/>
        </p:nvSpPr>
        <p:spPr>
          <a:xfrm>
            <a:off x="767924" y="1521643"/>
            <a:ext cx="7988139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Obtener los desplazamientos respecto al suelo (en X e Y) en el centro de masas del segundo nivel para cada simulación.</a:t>
            </a:r>
          </a:p>
          <a:p>
            <a:pPr marL="457200" marR="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Obtener las aceleraciones absolutas (en X e Y) en cada centro de masas de cada nivel para cada simulacion.</a:t>
            </a:r>
          </a:p>
          <a:p>
            <a:pPr marL="457200" marR="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En cada instante, obtener la resultante en la base de las fuerzas de inercia que actúan en cada nivel.</a:t>
            </a:r>
          </a:p>
          <a:p>
            <a:pPr marL="457200" marR="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Dibujar las curvas desplazamiento – fuerza en la base.</a:t>
            </a:r>
          </a:p>
          <a:p>
            <a:pPr marL="457200" marR="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 partir de las historias de desplazamiento del centro de masas del segundo nivel, determinar los puntos en los cuales el desplazamiento es máximo y además supera el valor alcanzado en ciclos anteriores en el mismo dominio de desplazamiento (+,-)</a:t>
            </a:r>
          </a:p>
          <a:p>
            <a:pPr marL="457200" marR="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Definir las curvas de capacidad en X e Y y en cada sentido (+,-).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Aproximar curva de capacidad obtenida, según 2G EN1998 y calcular el coeficiente de comportamiento por ductilidad.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Comparar la curva de capacida obtenida con la curva 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7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versus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desplazamiento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estimada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con                                 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donde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ea typeface="Calibri" panose="020F0502020204030204" pitchFamily="34" charset="0"/>
              </a:rPr>
              <a:t>c 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es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una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matriz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amortiguamiento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proporcional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a la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matriz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masas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y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calibrada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para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que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proporcione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la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fracción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de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amortiguamiento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el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modo 1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estimada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cálculos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anteriores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7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Comparar la aceleración angular con la velocidad angular al cuadrado y verificar que el valor de la segunda es despeciable.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BFF5E3D-8CF4-AD15-BAA5-97591A49F366}"/>
                  </a:ext>
                </a:extLst>
              </p:cNvPr>
              <p:cNvSpPr txBox="1"/>
              <p:nvPr/>
            </p:nvSpPr>
            <p:spPr>
              <a:xfrm>
                <a:off x="2555776" y="5159385"/>
                <a:ext cx="1944216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7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  <m:sub>
                        <m:r>
                          <a:rPr lang="en-US" sz="17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𝒔</m:t>
                        </m:r>
                      </m:sub>
                    </m:sSub>
                    <m:r>
                      <a:rPr lang="en-US" sz="17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s-ES" sz="17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−[</m:t>
                    </m:r>
                    <m:r>
                      <a:rPr lang="en-US" sz="1700" b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𝐦</m:t>
                    </m:r>
                    <m:sSup>
                      <m:sSupPr>
                        <m:ctrlPr>
                          <a:rPr lang="en-US" sz="1700" b="1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sz="17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1700" b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𝐮</m:t>
                            </m:r>
                          </m:e>
                        </m:acc>
                      </m:e>
                      <m:sup>
                        <m:r>
                          <a:rPr lang="en-US" sz="1700" b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𝐭</m:t>
                        </m:r>
                      </m:sup>
                    </m:sSup>
                    <m:r>
                      <a:rPr lang="en-US" sz="17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en-US" sz="1700" b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𝐜</m:t>
                    </m:r>
                    <m:acc>
                      <m:accPr>
                        <m:chr m:val="̇"/>
                        <m:ctrlPr>
                          <a:rPr lang="en-US" sz="1700" b="1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700" b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𝐮</m:t>
                        </m:r>
                      </m:e>
                    </m:acc>
                    <m:r>
                      <a:rPr lang="es-ES" sz="17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</m:t>
                    </m:r>
                  </m:oMath>
                </a14:m>
                <a:r>
                  <a:rPr lang="en-US" sz="17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en-GB" sz="17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BFF5E3D-8CF4-AD15-BAA5-97591A49F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5159385"/>
                <a:ext cx="1944216" cy="353943"/>
              </a:xfrm>
              <a:prstGeom prst="rect">
                <a:avLst/>
              </a:prstGeom>
              <a:blipFill>
                <a:blip r:embed="rId2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81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C6C7-174B-5FF4-7CE5-2371F7F6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55E88DAD-1EF1-7221-663D-08BEB8ADA3F0}"/>
              </a:ext>
            </a:extLst>
          </p:cNvPr>
          <p:cNvSpPr txBox="1">
            <a:spLocks/>
          </p:cNvSpPr>
          <p:nvPr/>
        </p:nvSpPr>
        <p:spPr bwMode="auto">
          <a:xfrm>
            <a:off x="755576" y="404664"/>
            <a:ext cx="7848872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s-ES" altLang="en-US" sz="2200" b="1" dirty="0"/>
              <a:t>PLAZOS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41EF3-5C71-A75E-70F6-71E8C134AE2D}"/>
              </a:ext>
            </a:extLst>
          </p:cNvPr>
          <p:cNvSpPr txBox="1"/>
          <p:nvPr/>
        </p:nvSpPr>
        <p:spPr>
          <a:xfrm>
            <a:off x="767924" y="1521643"/>
            <a:ext cx="798813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endParaRPr lang="en-US" sz="2000" noProof="1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 algn="just">
              <a:buFont typeface="Arial" panose="020B0604020202020204" pitchFamily="34" charset="0"/>
              <a:buChar char="•"/>
            </a:pPr>
            <a:r>
              <a:rPr lang="en-US" sz="20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La próxima clase cada grupo debe presentar los análisis que ha realziado y plantear dudas si han surgido.</a:t>
            </a:r>
          </a:p>
          <a:p>
            <a:pPr marL="342900" marR="0" indent="-342900" algn="just">
              <a:buFont typeface="Arial" panose="020B0604020202020204" pitchFamily="34" charset="0"/>
              <a:buChar char="•"/>
            </a:pPr>
            <a:endParaRPr lang="en-US" sz="2000" noProof="1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 algn="just">
              <a:buFont typeface="Arial" panose="020B0604020202020204" pitchFamily="34" charset="0"/>
              <a:buChar char="•"/>
            </a:pPr>
            <a:r>
              <a:rPr lang="en-US" sz="2000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Dentro de dos semanas se entrega la práctica</a:t>
            </a:r>
          </a:p>
          <a:p>
            <a:pPr marR="0" algn="just"/>
            <a:endParaRPr lang="en-US" sz="2000" noProof="1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just"/>
            <a:endParaRPr lang="en-US" sz="2000" noProof="1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just"/>
            <a:endParaRPr lang="en-US" sz="2000" noProof="1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18574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2BDF103A78BBC40ABF82F172D242B98" ma:contentTypeVersion="19" ma:contentTypeDescription="Crear nuevo documento." ma:contentTypeScope="" ma:versionID="12de889e896dc7bf84f6d3bc5371d3ff">
  <xsd:schema xmlns:xsd="http://www.w3.org/2001/XMLSchema" xmlns:xs="http://www.w3.org/2001/XMLSchema" xmlns:p="http://schemas.microsoft.com/office/2006/metadata/properties" xmlns:ns2="a257368d-65d3-43f8-8bc1-38945c4f6164" xmlns:ns3="4a4359fa-112d-474e-a486-5b47d80a81e8" targetNamespace="http://schemas.microsoft.com/office/2006/metadata/properties" ma:root="true" ma:fieldsID="46233c3631e4edf6beff3fa8bd225796" ns2:_="" ns3:_="">
    <xsd:import namespace="a257368d-65d3-43f8-8bc1-38945c4f6164"/>
    <xsd:import namespace="4a4359fa-112d-474e-a486-5b47d80a81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57368d-65d3-43f8-8bc1-38945c4f61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6b79bab5-423c-41bb-b2a6-fa644551ea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359fa-112d-474e-a486-5b47d80a81e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856fd02c-12a9-44be-8fad-eeb31c50567a}" ma:internalName="TaxCatchAll" ma:showField="CatchAllData" ma:web="4a4359fa-112d-474e-a486-5b47d80a81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4359fa-112d-474e-a486-5b47d80a81e8" xsi:nil="true"/>
    <lcf76f155ced4ddcb4097134ff3c332f xmlns="a257368d-65d3-43f8-8bc1-38945c4f616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F2289C-9F53-462D-9325-C9D4D4DD1F01}"/>
</file>

<file path=customXml/itemProps2.xml><?xml version="1.0" encoding="utf-8"?>
<ds:datastoreItem xmlns:ds="http://schemas.openxmlformats.org/officeDocument/2006/customXml" ds:itemID="{D4F14CB3-5077-4988-ABD3-55A4345578E4}"/>
</file>

<file path=customXml/itemProps3.xml><?xml version="1.0" encoding="utf-8"?>
<ds:datastoreItem xmlns:ds="http://schemas.openxmlformats.org/officeDocument/2006/customXml" ds:itemID="{28718CBD-50C4-49E8-8D02-077E8F14C88A}"/>
</file>

<file path=docProps/app.xml><?xml version="1.0" encoding="utf-8"?>
<Properties xmlns="http://schemas.openxmlformats.org/officeDocument/2006/extended-properties" xmlns:vt="http://schemas.openxmlformats.org/officeDocument/2006/docPropsVTypes">
  <TotalTime>3482</TotalTime>
  <Words>1349</Words>
  <Application>Microsoft Macintosh PowerPoint</Application>
  <PresentationFormat>Presentación en pantalla (4:3)</PresentationFormat>
  <Paragraphs>78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Cambria Math</vt:lpstr>
      <vt:lpstr>Times New Roman</vt:lpstr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Jesus</dc:creator>
  <cp:lastModifiedBy>AMADEO BENAVENT CLIMENT</cp:lastModifiedBy>
  <cp:revision>351</cp:revision>
  <cp:lastPrinted>2021-04-22T11:49:00Z</cp:lastPrinted>
  <dcterms:created xsi:type="dcterms:W3CDTF">2007-05-10T19:10:59Z</dcterms:created>
  <dcterms:modified xsi:type="dcterms:W3CDTF">2026-04-09T12:59:06Z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0x010100D2BDF103A78BBC40ABF82F172D242B98</vt:lpwstr>
  </property>
</Properties>
</file>